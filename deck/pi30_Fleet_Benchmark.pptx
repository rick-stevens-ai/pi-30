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28016" cy="2011680"/>
          </a:xfrm>
          <a:prstGeom prst="roundRect">
            <a:avLst>
              <a:gd name="adj" fmla="val 35714"/>
            </a:avLst>
          </a:prstGeom>
          <a:solidFill>
            <a:srgbClr val="33C3F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33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REPORT · 2026-07-06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6868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pi Agent-Loop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Fleet-30 Benchmark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tool-use coding evaluation across the free / self-hosted model fleet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14400" y="470916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82803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55595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evaluated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470916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482803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480560" y="55595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agent-loop problems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46720" y="4709160"/>
            <a:ext cx="3200400" cy="1234440"/>
          </a:xfrm>
          <a:prstGeom prst="roundRect">
            <a:avLst>
              <a:gd name="adj" fmla="val 8889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482803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8046720" y="55595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30/30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6355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Rick Stevens fleet · m1-mac-mini · pi (Earendil Pi) agent CLI, tools 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BENCHMARK EXISTS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whether a model can close an agent loop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leaderboards (MMLU, chat-Elo) measure fluent text. They do NOT measure whether a model can drive tools, recover from a failing test, and iterate to a verifier-passing result — the one skill an agent core actually needs.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80360"/>
            <a:ext cx="347472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880360"/>
            <a:ext cx="128016" cy="2834640"/>
          </a:xfrm>
          <a:prstGeom prst="roundRect">
            <a:avLst>
              <a:gd name="adj" fmla="val 35714"/>
            </a:avLst>
          </a:prstGeom>
          <a:solidFill>
            <a:srgbClr val="33C3F0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304495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mapping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50976" y="3611880"/>
            <a:ext cx="2907792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served models can actually drive a loop — so real agentic work routes only to models that clear the bar, and the rest stay for single-shot generation.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43400" y="2880360"/>
            <a:ext cx="347472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880360"/>
            <a:ext cx="128016" cy="2834640"/>
          </a:xfrm>
          <a:prstGeom prst="roundRect">
            <a:avLst>
              <a:gd name="adj" fmla="val 35714"/>
            </a:avLst>
          </a:prstGeom>
          <a:solidFill>
            <a:srgbClr val="F2B134"/>
          </a:solidFill>
          <a:ln/>
        </p:spPr>
      </p:sp>
      <p:sp>
        <p:nvSpPr>
          <p:cNvPr id="11" name="Text 9"/>
          <p:cNvSpPr/>
          <p:nvPr/>
        </p:nvSpPr>
        <p:spPr>
          <a:xfrm>
            <a:off x="4654296" y="304495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Serving-path validation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54296" y="3611880"/>
            <a:ext cx="2907792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weights on two backends is a different product. A broken template, missing tool-parser, or quant shows up as a score drop.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046720" y="2880360"/>
            <a:ext cx="347472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2880360"/>
            <a:ext cx="128016" cy="2834640"/>
          </a:xfrm>
          <a:prstGeom prst="roundRect">
            <a:avLst>
              <a:gd name="adj" fmla="val 35714"/>
            </a:avLst>
          </a:prstGeom>
          <a:solidFill>
            <a:srgbClr val="3BA776"/>
          </a:solidFill>
          <a:ln/>
        </p:spPr>
      </p:sp>
      <p:sp>
        <p:nvSpPr>
          <p:cNvPr id="15" name="Text 13"/>
          <p:cNvSpPr/>
          <p:nvPr/>
        </p:nvSpPr>
        <p:spPr>
          <a:xfrm>
            <a:off x="8357616" y="304495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coding curriculum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7616" y="3611880"/>
            <a:ext cx="2907792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authored problems — write, fix, optimize, tournament, critic — that exercise the distinct sub-skills an agent needs.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14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score is earned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965960"/>
            <a:ext cx="128016" cy="1737360"/>
          </a:xfrm>
          <a:prstGeom prst="roundRect">
            <a:avLst>
              <a:gd name="adj" fmla="val 35714"/>
            </a:avLst>
          </a:prstGeom>
          <a:solidFill>
            <a:srgbClr val="33C3F0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213055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always 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50976" y="2697480"/>
            <a:ext cx="47823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--no-tools runs. The point is the loop, not zero-shot recall. A path-clamp keeps the model in its problem dir; verdicts still come only from the grader.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965960"/>
            <a:ext cx="128016" cy="1737360"/>
          </a:xfrm>
          <a:prstGeom prst="roundRect">
            <a:avLst>
              <a:gd name="adj" fmla="val 35714"/>
            </a:avLst>
          </a:prstGeom>
          <a:solidFill>
            <a:srgbClr val="F2B134"/>
          </a:solidFill>
          <a:ln/>
        </p:spPr>
      </p:sp>
      <p:sp>
        <p:nvSpPr>
          <p:cNvPr id="10" name="Text 8"/>
          <p:cNvSpPr/>
          <p:nvPr/>
        </p:nvSpPr>
        <p:spPr>
          <a:xfrm>
            <a:off x="6574536" y="213055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is canonical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74536" y="2697480"/>
            <a:ext cx="47823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= one clean pass over all 30, apples-to-apples. A targeted rerun of misses is reported as “effective”, never promoted.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931920"/>
            <a:ext cx="128016" cy="1737360"/>
          </a:xfrm>
          <a:prstGeom prst="roundRect">
            <a:avLst>
              <a:gd name="adj" fmla="val 35714"/>
            </a:avLst>
          </a:prstGeom>
          <a:solidFill>
            <a:srgbClr val="33C3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" y="409651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Zero-score rule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50976" y="4663440"/>
            <a:ext cx="47823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0/N is a server / harness / stack failure — debugged as infrastructure, marked BROKEN, never recorded as model capability.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931920"/>
            <a:ext cx="128016" cy="1737360"/>
          </a:xfrm>
          <a:prstGeom prst="roundRect">
            <a:avLst>
              <a:gd name="adj" fmla="val 35714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/>
          <p:nvPr/>
        </p:nvSpPr>
        <p:spPr>
          <a:xfrm>
            <a:off x="6574536" y="409651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from exit codes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74536" y="4663440"/>
            <a:ext cx="478231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ships an independent grader (verify.py / pytest / scorer). The model is forbidden from editing it. Attribute to provider × model.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14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DESIGN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problems, five skill families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777240" cy="841248"/>
          </a:xfrm>
          <a:prstGeom prst="roundRect">
            <a:avLst>
              <a:gd name="adj" fmla="val 11765"/>
            </a:avLst>
          </a:prstGeom>
          <a:solidFill>
            <a:srgbClr val="33C3F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777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508760" y="1874520"/>
            <a:ext cx="731520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37360" y="196596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Write-from-spec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737360" y="2313432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working code from a spec in an empty dir; import across a tree.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961120" y="1874520"/>
            <a:ext cx="2606040" cy="841248"/>
          </a:xfrm>
          <a:prstGeom prst="roundRect">
            <a:avLst>
              <a:gd name="adj" fmla="val 9783"/>
            </a:avLst>
          </a:prstGeom>
          <a:solidFill>
            <a:srgbClr val="13294B"/>
          </a:solidFill>
          <a:ln/>
        </p:spPr>
      </p:sp>
      <p:sp>
        <p:nvSpPr>
          <p:cNvPr id="10" name="Text 8"/>
          <p:cNvSpPr/>
          <p:nvPr/>
        </p:nvSpPr>
        <p:spPr>
          <a:xfrm>
            <a:off x="9006840" y="1874520"/>
            <a:ext cx="2514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P2 P7 P17 P25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834640"/>
            <a:ext cx="777240" cy="841248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34640"/>
            <a:ext cx="777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3800" dirty="0"/>
          </a:p>
        </p:txBody>
      </p:sp>
      <p:sp>
        <p:nvSpPr>
          <p:cNvPr id="13" name="Shape 11"/>
          <p:cNvSpPr/>
          <p:nvPr/>
        </p:nvSpPr>
        <p:spPr>
          <a:xfrm>
            <a:off x="1508760" y="2834640"/>
            <a:ext cx="731520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7360" y="29260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failing tests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3273552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fix to a red pytest — forbidden from editing the test.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961120" y="2834640"/>
            <a:ext cx="2606040" cy="841248"/>
          </a:xfrm>
          <a:prstGeom prst="roundRect">
            <a:avLst>
              <a:gd name="adj" fmla="val 9783"/>
            </a:avLst>
          </a:prstGeom>
          <a:solidFill>
            <a:srgbClr val="13294B"/>
          </a:solidFill>
          <a:ln/>
        </p:spPr>
      </p:sp>
      <p:sp>
        <p:nvSpPr>
          <p:cNvPr id="17" name="Text 15"/>
          <p:cNvSpPr/>
          <p:nvPr/>
        </p:nvSpPr>
        <p:spPr>
          <a:xfrm>
            <a:off x="9006840" y="2834640"/>
            <a:ext cx="2514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P11 P13 P20 P22 P29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794760"/>
            <a:ext cx="777240" cy="841248"/>
          </a:xfrm>
          <a:prstGeom prst="roundRect">
            <a:avLst>
              <a:gd name="adj" fmla="val 11765"/>
            </a:avLst>
          </a:prstGeom>
          <a:solidFill>
            <a:srgbClr val="3BA776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794760"/>
            <a:ext cx="777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1508760" y="3794760"/>
            <a:ext cx="731520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37360" y="38862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/ algo fix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737360" y="4233672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 mathematical bug: overflow, cancellation, wrong recurrence.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961120" y="3794760"/>
            <a:ext cx="2606040" cy="841248"/>
          </a:xfrm>
          <a:prstGeom prst="roundRect">
            <a:avLst>
              <a:gd name="adj" fmla="val 9783"/>
            </a:avLst>
          </a:prstGeom>
          <a:solidFill>
            <a:srgbClr val="13294B"/>
          </a:solidFill>
          <a:ln/>
        </p:spPr>
      </p:sp>
      <p:sp>
        <p:nvSpPr>
          <p:cNvPr id="24" name="Text 22"/>
          <p:cNvSpPr/>
          <p:nvPr/>
        </p:nvSpPr>
        <p:spPr>
          <a:xfrm>
            <a:off x="9006840" y="3794760"/>
            <a:ext cx="2514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P8 P12 P14 P18 P21 P23 P26 P28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4754880"/>
            <a:ext cx="777240" cy="841248"/>
          </a:xfrm>
          <a:prstGeom prst="roundRect">
            <a:avLst>
              <a:gd name="adj" fmla="val 11765"/>
            </a:avLst>
          </a:prstGeom>
          <a:solidFill>
            <a:srgbClr val="F2B13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754880"/>
            <a:ext cx="777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800" dirty="0"/>
          </a:p>
        </p:txBody>
      </p:sp>
      <p:sp>
        <p:nvSpPr>
          <p:cNvPr id="27" name="Shape 25"/>
          <p:cNvSpPr/>
          <p:nvPr/>
        </p:nvSpPr>
        <p:spPr>
          <a:xfrm>
            <a:off x="1508760" y="4754880"/>
            <a:ext cx="731520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484632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to target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737360" y="5193792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Correct-but-slow → hit a throughput target, re-measure in a budget.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961120" y="4754880"/>
            <a:ext cx="2606040" cy="841248"/>
          </a:xfrm>
          <a:prstGeom prst="roundRect">
            <a:avLst>
              <a:gd name="adj" fmla="val 9783"/>
            </a:avLst>
          </a:prstGeom>
          <a:solidFill>
            <a:srgbClr val="13294B"/>
          </a:solidFill>
          <a:ln/>
        </p:spPr>
      </p:sp>
      <p:sp>
        <p:nvSpPr>
          <p:cNvPr id="31" name="Text 29"/>
          <p:cNvSpPr/>
          <p:nvPr/>
        </p:nvSpPr>
        <p:spPr>
          <a:xfrm>
            <a:off x="9006840" y="4754880"/>
            <a:ext cx="2514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P15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080" y="5715000"/>
            <a:ext cx="777240" cy="841248"/>
          </a:xfrm>
          <a:prstGeom prst="roundRect">
            <a:avLst>
              <a:gd name="adj" fmla="val 11765"/>
            </a:avLst>
          </a:prstGeom>
          <a:solidFill>
            <a:srgbClr val="C0444A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715000"/>
            <a:ext cx="7772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3800" dirty="0"/>
          </a:p>
        </p:txBody>
      </p:sp>
      <p:sp>
        <p:nvSpPr>
          <p:cNvPr id="34" name="Shape 32"/>
          <p:cNvSpPr/>
          <p:nvPr/>
        </p:nvSpPr>
        <p:spPr>
          <a:xfrm>
            <a:off x="1508760" y="5715000"/>
            <a:ext cx="731520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737360" y="58064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&amp; critic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1737360" y="6153912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Best-of-N parallel candidates + self-review loops. Most agentic.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961120" y="5715000"/>
            <a:ext cx="2606040" cy="841248"/>
          </a:xfrm>
          <a:prstGeom prst="roundRect">
            <a:avLst>
              <a:gd name="adj" fmla="val 9783"/>
            </a:avLst>
          </a:prstGeom>
          <a:solidFill>
            <a:srgbClr val="13294B"/>
          </a:solidFill>
          <a:ln/>
        </p:spPr>
      </p:sp>
      <p:sp>
        <p:nvSpPr>
          <p:cNvPr id="38" name="Text 36"/>
          <p:cNvSpPr/>
          <p:nvPr/>
        </p:nvSpPr>
        <p:spPr>
          <a:xfrm>
            <a:off x="9006840" y="5715000"/>
            <a:ext cx="25146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P9 P10 P16 P19 P24 P27 P30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14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TOP OF THE BOARD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lanes reached a clean 30/30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384048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32120" y="178308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41080" y="178308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69880" y="178308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167128"/>
            <a:ext cx="10908792" cy="384048"/>
          </a:xfrm>
          <a:prstGeom prst="rect">
            <a:avLst/>
          </a:prstGeom>
          <a:solidFill>
            <a:srgbClr val="DFF0E2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167128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167128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oss120 (gpt-oss-120b)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32120" y="216712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 · vLLM 0.14.1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41080" y="21671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469880" y="2167128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551176"/>
            <a:ext cx="10908792" cy="384048"/>
          </a:xfrm>
          <a:prstGeom prst="rect">
            <a:avLst/>
          </a:prstGeom>
          <a:solidFill>
            <a:srgbClr val="EAF6E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51176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551176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uic-laguna-xs2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32120" y="2551176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(MoE)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41080" y="2551176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469880" y="255117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49m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0080" y="2935224"/>
            <a:ext cx="10908792" cy="384048"/>
          </a:xfrm>
          <a:prstGeom prst="rect">
            <a:avLst/>
          </a:prstGeom>
          <a:solidFill>
            <a:srgbClr val="DFF0E2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2935224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2935224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uic-qwen36-35b-a3b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2935224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(MoE)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41080" y="2935224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469880" y="2935224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52m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3319272"/>
            <a:ext cx="10908792" cy="384048"/>
          </a:xfrm>
          <a:prstGeom prst="rect">
            <a:avLst/>
          </a:prstGeom>
          <a:solidFill>
            <a:srgbClr val="EAF6E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3319272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3319272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qwen36-27b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532120" y="3319272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41080" y="331927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469880" y="331927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1h22m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703320"/>
            <a:ext cx="10908792" cy="384048"/>
          </a:xfrm>
          <a:prstGeom prst="rect">
            <a:avLst/>
          </a:prstGeom>
          <a:solidFill>
            <a:srgbClr val="DFF0E2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703320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370332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ornith-9b (reasoning)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32120" y="370332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641080" y="37033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469880" y="3703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3h05m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4087368"/>
            <a:ext cx="10908792" cy="384048"/>
          </a:xfrm>
          <a:prstGeom prst="rect">
            <a:avLst/>
          </a:prstGeom>
          <a:solidFill>
            <a:srgbClr val="EAF6E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087368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087368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(Kimi-K2.6)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532120" y="408736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641080" y="408736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0469880" y="4087368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3h18m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" y="4471416"/>
            <a:ext cx="10908792" cy="384048"/>
          </a:xfrm>
          <a:prstGeom prst="rect">
            <a:avLst/>
          </a:prstGeom>
          <a:solidFill>
            <a:srgbClr val="DFF0E2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4471416"/>
            <a:ext cx="91440" cy="384048"/>
          </a:xfrm>
          <a:prstGeom prst="rect">
            <a:avLst/>
          </a:prstGeom>
          <a:solidFill>
            <a:srgbClr val="3BA776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4471416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laguna-xs2 (direct)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532120" y="4471416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ik_llama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641080" y="4471416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27/30 (eff.30)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0469880" y="447141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56m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40080" y="4855464"/>
            <a:ext cx="10908792" cy="384048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7240" y="4855464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glm-5.2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532120" y="4855464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(paid)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641080" y="4855464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29/30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0469880" y="4855464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44m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40080" y="5239512"/>
            <a:ext cx="10908792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" y="5239512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gemma4-31b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5532120" y="5239512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8641080" y="523951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29/30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10469880" y="523951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3h01m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40080" y="5623560"/>
            <a:ext cx="10908792" cy="384048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7240" y="5623560"/>
            <a:ext cx="4709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uic-ornith-9b (reasoning)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5532120" y="562356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llama.cpp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641080" y="56235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28/30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10469880" y="562356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1h36m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0080" y="6062472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clean 30/30. A 9B model (ornith-9b) hits 30/30 — size is not the gate; tool-use training + a correct serving stack are.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14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Provider speed is a first-class axis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30/30 score costs minutes on a fast backend and hours on a slow one. For real agentic work (Kanban workers, coordinators) throughput decides usability as much as accuracy.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53492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834640"/>
            <a:ext cx="128016" cy="2880360"/>
          </a:xfrm>
          <a:prstGeom prst="roundRect">
            <a:avLst>
              <a:gd name="adj" fmla="val 35714"/>
            </a:avLst>
          </a:prstGeom>
          <a:solidFill>
            <a:srgbClr val="3BA776"/>
          </a:solidFill>
          <a:ln/>
        </p:spPr>
      </p:sp>
      <p:sp>
        <p:nvSpPr>
          <p:cNvPr id="7" name="Text 5"/>
          <p:cNvSpPr/>
          <p:nvPr/>
        </p:nvSpPr>
        <p:spPr>
          <a:xfrm>
            <a:off x="950976" y="299923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backends — 30/30 in minutes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50976" y="3566160"/>
            <a:ext cx="478231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oss120 (local dgx)  —  9m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uic-laguna-xs2 (A100)  —  49m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uic-qwen36-35b (A100)  —  52m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glm-5.2 (OpenRouter)  —  44m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local-dgx / A100 / PVC lanes clear the whole suite before a slow lane finishes its first few problems.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72200" y="2834640"/>
            <a:ext cx="53492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72200" y="2834640"/>
            <a:ext cx="128016" cy="2880360"/>
          </a:xfrm>
          <a:prstGeom prst="roundRect">
            <a:avLst>
              <a:gd name="adj" fmla="val 35714"/>
            </a:avLst>
          </a:prstGeom>
          <a:solidFill>
            <a:srgbClr val="C0444A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299923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local lanes — 7–8h for less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83096" y="3566160"/>
            <a:ext cx="478231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nemotron-3-nano 30B (spark)  —  7h36m  ·  19/30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llama70 (local dgx)  —  7h16m  ·  18/29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nemotron3-33b Omni (spark)  —  7h31m  ·  16/30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spark-Ollama local lanes burn a full workday and still score lower — not a candidate for a live worker regardless of score.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14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WHAT SEPARATED THE FLEET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Concurrency &amp; numerical stability are the wall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960120" cy="786384"/>
          </a:xfrm>
          <a:prstGeom prst="roundRect">
            <a:avLst>
              <a:gd name="adj" fmla="val 11628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9384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P24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295144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91640" y="1874520"/>
            <a:ext cx="985723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74520" y="1956816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Token-bucket limiter + critic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295144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Burst-cap + fractional refill + injected clock + self-review. The single hardest problem — 11 of 23 lanes failed.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761488"/>
            <a:ext cx="960120" cy="786384"/>
          </a:xfrm>
          <a:prstGeom prst="roundRect">
            <a:avLst>
              <a:gd name="adj" fmla="val 11628"/>
            </a:avLst>
          </a:prstGeom>
          <a:solidFill>
            <a:srgbClr val="0B1F3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3182112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691640" y="2761488"/>
            <a:ext cx="985723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2843784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numerical stability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74520" y="3182112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one-line fix (subtract max before exp) — but tests whether the model KNOWS the overflow pattern. Half the mid-tier missed.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648456"/>
            <a:ext cx="960120" cy="786384"/>
          </a:xfrm>
          <a:prstGeom prst="roundRect">
            <a:avLst>
              <a:gd name="adj" fmla="val 11628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03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40080" y="4069080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91640" y="3648456"/>
            <a:ext cx="985723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3730752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Multi-backend codec round-trip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Two-function contract across three import targets. Structure, not algorithm, is the difficulty.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960120" cy="786384"/>
          </a:xfrm>
          <a:prstGeom prst="roundRect">
            <a:avLst>
              <a:gd name="adj" fmla="val 11628"/>
            </a:avLst>
          </a:prstGeom>
          <a:solidFill>
            <a:srgbClr val="0B1F3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590288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" y="4956048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691640" y="4535424"/>
            <a:ext cx="985723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74520" y="4617720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fan-out pipeline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74520" y="4956048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/ fan-out — the ONLY problem glm-5.2 missed, and single-shot laguna too. Irreducible variance even for top models.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5422392"/>
            <a:ext cx="960120" cy="786384"/>
          </a:xfrm>
          <a:prstGeom prst="roundRect">
            <a:avLst>
              <a:gd name="adj" fmla="val 11628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477256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P13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40080" y="5843016"/>
            <a:ext cx="960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691640" y="5422392"/>
            <a:ext cx="985723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74520" y="550468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JSON parser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874520" y="5843016"/>
            <a:ext cx="9509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recursive descent, no json / eval. Cleanly separates mid-tier from top.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33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THE ZERO-SCORE RULE AT WORK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0/N was infrastructure, not a dumb model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057400"/>
            <a:ext cx="118872" cy="1645920"/>
          </a:xfrm>
          <a:prstGeom prst="roundRect">
            <a:avLst>
              <a:gd name="adj" fmla="val 38462"/>
            </a:avLst>
          </a:prstGeom>
          <a:solidFill>
            <a:srgbClr val="3BA77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037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uic-ornith-9b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023360" y="22037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→ 28/30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679192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GGUF blobs carry no chat template — --jinja silently emitted no tool calls. Fixed with explicit --chat-template-file via llama.cpp.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2057400"/>
            <a:ext cx="118872" cy="1645920"/>
          </a:xfrm>
          <a:prstGeom prst="roundRect">
            <a:avLst>
              <a:gd name="adj" fmla="val 38462"/>
            </a:avLst>
          </a:prstGeom>
          <a:solidFill>
            <a:srgbClr val="3BA776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037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oss120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646920" y="22037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→ 30/30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2679192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 0.13 streaming-flush bug truncated tool-call deltas. Upgraded the endpoint to vLLM 0.14.1.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886200"/>
            <a:ext cx="118872" cy="1645920"/>
          </a:xfrm>
          <a:prstGeom prst="roundRect">
            <a:avLst>
              <a:gd name="adj" fmla="val 38462"/>
            </a:avLst>
          </a:prstGeom>
          <a:solidFill>
            <a:srgbClr val="3BA77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325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nemotron-super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023360" y="40325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→ 26/30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07992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120B was never resident (weights &gt; host RAM). Re-routed to a real endpoint.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645920"/>
          </a:xfrm>
          <a:prstGeom prst="roundRect">
            <a:avLst>
              <a:gd name="adj" fmla="val 5556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3886200"/>
            <a:ext cx="118872" cy="1645920"/>
          </a:xfrm>
          <a:prstGeom prst="roundRect">
            <a:avLst>
              <a:gd name="adj" fmla="val 38462"/>
            </a:avLst>
          </a:prstGeom>
          <a:solidFill>
            <a:srgbClr val="3BA776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0325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 (all lanes)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646920" y="40325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hang → pass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37960" y="4507992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grader SCORE_TIMEOUT bug caused a ~6.5h harness hang + false fails. Excluded from wall-clock.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any of these as a capability result would have libeled five perfectly capable models.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FLEET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serving platforms, one harness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37360"/>
            <a:ext cx="128016" cy="1417320"/>
          </a:xfrm>
          <a:prstGeom prst="roundRect">
            <a:avLst>
              <a:gd name="adj" fmla="val 35714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1856232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50976" y="2258568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GPU Max 1550 — each dense model on one 64 GB PVC tile.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50976" y="27614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qwen36-27b · ornith-9b · gemma4-*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37360"/>
            <a:ext cx="128016" cy="1417320"/>
          </a:xfrm>
          <a:prstGeom prst="roundRect">
            <a:avLst>
              <a:gd name="adj" fmla="val 35714"/>
            </a:avLst>
          </a:prstGeom>
          <a:solidFill>
            <a:srgbClr val="3BA776"/>
          </a:solidFill>
          <a:ln/>
        </p:spPr>
      </p:sp>
      <p:sp>
        <p:nvSpPr>
          <p:cNvPr id="11" name="Text 9"/>
          <p:cNvSpPr/>
          <p:nvPr/>
        </p:nvSpPr>
        <p:spPr>
          <a:xfrm>
            <a:off x="6574536" y="1856232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74536" y="2258568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A100-80GB DGX — one or a few GPUs per model.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74536" y="27614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laguna · qwen36-35b-a3b · ornith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310128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310128"/>
            <a:ext cx="128016" cy="1417320"/>
          </a:xfrm>
          <a:prstGeom prst="roundRect">
            <a:avLst>
              <a:gd name="adj" fmla="val 35714"/>
            </a:avLst>
          </a:prstGeom>
          <a:solidFill>
            <a:srgbClr val="33C3F0"/>
          </a:solidFill>
          <a:ln/>
        </p:spPr>
      </p:sp>
      <p:sp>
        <p:nvSpPr>
          <p:cNvPr id="16" name="Text 14"/>
          <p:cNvSpPr/>
          <p:nvPr/>
        </p:nvSpPr>
        <p:spPr>
          <a:xfrm>
            <a:off x="950976" y="342900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50976" y="383133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Locally-served DGX endpoints (incl. the 550B host). Direct, no LiteLLM.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50976" y="433425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oss120 · kimi · llama70 · nemotron-ultra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63640" y="3310128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63640" y="3310128"/>
            <a:ext cx="128016" cy="1417320"/>
          </a:xfrm>
          <a:prstGeom prst="roundRect">
            <a:avLst>
              <a:gd name="adj" fmla="val 35714"/>
            </a:avLst>
          </a:prstGeom>
          <a:solidFill>
            <a:srgbClr val="F2B134"/>
          </a:solidFill>
          <a:ln/>
        </p:spPr>
      </p:sp>
      <p:sp>
        <p:nvSpPr>
          <p:cNvPr id="21" name="Text 19"/>
          <p:cNvSpPr/>
          <p:nvPr/>
        </p:nvSpPr>
        <p:spPr>
          <a:xfrm>
            <a:off x="6574536" y="3429000"/>
            <a:ext cx="4800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(ollama)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574536" y="383133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nodes serving via Ollama — the slow tail of the fleet.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74536" y="433425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 · nemotron nano/33B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882896"/>
            <a:ext cx="1090879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4882896"/>
            <a:ext cx="128016" cy="1417320"/>
          </a:xfrm>
          <a:prstGeom prst="roundRect">
            <a:avLst>
              <a:gd name="adj" fmla="val 35714"/>
            </a:avLst>
          </a:prstGeom>
          <a:solidFill>
            <a:srgbClr val="C0444A"/>
          </a:solidFill>
          <a:ln/>
        </p:spPr>
      </p:sp>
      <p:sp>
        <p:nvSpPr>
          <p:cNvPr id="26" name="Text 24"/>
          <p:cNvSpPr/>
          <p:nvPr/>
        </p:nvSpPr>
        <p:spPr>
          <a:xfrm>
            <a:off x="950976" y="5001768"/>
            <a:ext cx="10360152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50976" y="5404104"/>
            <a:ext cx="1040587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API — free tier preferred, paid tagged (glm-5.2).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50976" y="5907024"/>
            <a:ext cx="1040587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04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glm-5.2 · nemotron-3-super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MASTER TABLE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24 lanes — ranks 1–12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37947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98448" y="1783080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49240" y="1783080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0" y="1783080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04120" y="1783080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162556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62556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98448" y="2162556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oss120 (gpt-oss-120b)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9240" y="2162556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 · vLLM 0.14.1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95360" y="2162556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04120" y="2162556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542032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2542032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kimi (Kimi-K2.6)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49240" y="2542032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542032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104120" y="2542032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3h18m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2921508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921508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98448" y="2921508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qwen36-27b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49240" y="2921508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95360" y="2921508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104120" y="2921508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1h22m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3300984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300984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98448" y="3300984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ornith-9b (reasoning)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49240" y="3300984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95360" y="3300984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04120" y="3300984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3h05m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680460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80460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98448" y="3680460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uic-qwen36-35b-a3b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349240" y="3680460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(MoE)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95360" y="3680460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104120" y="3680460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52m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059936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59936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298448" y="4059936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uic-laguna-xs2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349240" y="4059936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(MoE)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595360" y="4059936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A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30/30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104120" y="4059936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49m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40080" y="4439412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39412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298448" y="4439412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laguna-xs2 (33B.A3B MoE)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349240" y="4439412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ik_llama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595360" y="4439412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27/30*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0104120" y="4439412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56m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40080" y="4818888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818888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298448" y="4818888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glm-5.2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5349240" y="4818888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(paid)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595360" y="4818888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29/30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104120" y="4818888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44m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40080" y="5198364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198364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1298448" y="5198364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gemma4-31b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349240" y="5198364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595360" y="5198364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29/30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0104120" y="5198364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3h01m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40080" y="5577840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577840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298448" y="5577840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uic-ornith-9b (reasoning)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349240" y="5577840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llama.cpp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595360" y="5577840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28/30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10104120" y="5577840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1h36m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40080" y="5957316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1520" y="5957316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1298448" y="5957316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gemma4-12b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5349240" y="5957316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595360" y="5957316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28/30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10104120" y="5957316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3h15m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640080" y="6336792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" y="6336792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1298448" y="6336792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devstral-small-2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5349240" y="6336792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8595360" y="6336792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28/30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10104120" y="6336792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1h27m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MASTER TABLE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24 lanes — ranks 13–24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08792" cy="379476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98448" y="1783080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49240" y="1783080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0" y="1783080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04120" y="1783080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162556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162556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98448" y="2162556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uic-gemma4-26b-q4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9240" y="2162556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(Q4)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95360" y="2162556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04120" y="2162556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1h12m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542032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2542032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nemotron-3-super 120B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49240" y="2542032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542032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104120" y="2542032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1h48m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2921508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921508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98448" y="2921508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uic-gemma4-26b-q8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349240" y="2921508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 (Q8)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95360" y="2921508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24/30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104120" y="2921508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1h40m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3300984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300984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98448" y="3300984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devstral2-24b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49240" y="3300984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(ollama)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95360" y="3300984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24/30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04120" y="3300984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2h14m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680460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80460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98448" y="3680460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uic-ornith-35b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349240" y="3680460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A100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95360" y="3680460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23/30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104120" y="3680460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1h29m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4059936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59936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298448" y="4059936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nemotron-3-ultra 550B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349240" y="4059936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 (rbh101)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595360" y="4059936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22/26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104120" y="4059936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hung@P27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40080" y="4439412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39412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298448" y="4439412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5349240" y="4439412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(ollama)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595360" y="4439412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20/28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0104120" y="4439412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4h41m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40080" y="4818888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818888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298448" y="4818888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gemma4-e4b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5349240" y="4818888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595360" y="4818888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20/30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10104120" y="4818888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1h39m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40080" y="5198364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198364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1298448" y="5198364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gemma4-e2b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5349240" y="5198364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PVC (1 tile)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8595360" y="5198364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20/30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10104120" y="5198364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1h02m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40080" y="5577840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577840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298448" y="5577840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nemotron-3-nano 30B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349240" y="5577840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(ollama)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8595360" y="5577840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19/30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10104120" y="5577840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7h36m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40080" y="5957316"/>
            <a:ext cx="10908792" cy="379476"/>
          </a:xfrm>
          <a:prstGeom prst="rect">
            <a:avLst/>
          </a:prstGeom>
          <a:solidFill>
            <a:srgbClr val="FFFFFF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1520" y="5957316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1298448" y="5957316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llama70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5349240" y="5957316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dgx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8595360" y="5957316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18/29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10104120" y="5957316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7h16m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640080" y="6336792"/>
            <a:ext cx="10908792" cy="379476"/>
          </a:xfrm>
          <a:prstGeom prst="rect">
            <a:avLst/>
          </a:prstGeom>
          <a:solidFill>
            <a:srgbClr val="F5F8FC"/>
          </a:solidFill>
          <a:ln w="6350">
            <a:solidFill>
              <a:srgbClr val="D8E2E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" y="6336792"/>
            <a:ext cx="5486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1298448" y="6336792"/>
            <a:ext cx="402336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nemotron3 33B (Omni)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5349240" y="6336792"/>
            <a:ext cx="320040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(ollama)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8595360" y="6336792"/>
            <a:ext cx="146304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16/30</a:t>
            </a:r>
            <a:endParaRPr lang="en-US" sz="1600" dirty="0"/>
          </a:p>
        </p:txBody>
      </p:sp>
      <p:sp>
        <p:nvSpPr>
          <p:cNvPr id="81" name="Text 79"/>
          <p:cNvSpPr/>
          <p:nvPr/>
        </p:nvSpPr>
        <p:spPr>
          <a:xfrm>
            <a:off x="10104120" y="6336792"/>
            <a:ext cx="1325880" cy="379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7h31m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IDENTITY VERIFIED LIVE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Nemotron family, disambiguated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verified against live ollama show / the endpoint map — never from a tag. They are different architectures with the same marketing prefix.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347472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97480"/>
            <a:ext cx="3474720" cy="118872"/>
          </a:xfrm>
          <a:prstGeom prst="roundRect">
            <a:avLst>
              <a:gd name="adj" fmla="val 38462"/>
            </a:avLst>
          </a:prstGeom>
          <a:solidFill>
            <a:srgbClr val="33C3F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9260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nemotron3 33B “Omni”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36576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nemotron_h_omni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Mamba-hybrid, vision+tools. Wastes capacity on an unused vision stack.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A7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16/30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43400" y="2697480"/>
            <a:ext cx="347472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697480"/>
            <a:ext cx="3474720" cy="118872"/>
          </a:xfrm>
          <a:prstGeom prst="roundRect">
            <a:avLst>
              <a:gd name="adj" fmla="val 38462"/>
            </a:avLst>
          </a:prstGeom>
          <a:solidFill>
            <a:srgbClr val="33C3F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9260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nemotron-3-nano 30B “MoE”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72000" y="36576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nemotron_h_moe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Text-only, 1.05M ctx. Beats its Omni sibling on coding.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5212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A7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19/30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046720" y="2697480"/>
            <a:ext cx="347472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63500" dist="25400" dir="5400000">
              <a:srgbClr val="9FB0C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0" y="2697480"/>
            <a:ext cx="3474720" cy="118872"/>
          </a:xfrm>
          <a:prstGeom prst="roundRect">
            <a:avLst>
              <a:gd name="adj" fmla="val 38462"/>
            </a:avLst>
          </a:prstGeom>
          <a:solidFill>
            <a:srgbClr val="33C3F0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292608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nemotron-3-ultra 550B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75320" y="36576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dense-MoE, NVFP4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A55B on local dgx (rbh101). Hung at P27 — partial.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75320" y="521208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A7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22/26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2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takeaways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40280"/>
            <a:ext cx="502920" cy="502920"/>
          </a:xfrm>
          <a:prstGeom prst="ellipse">
            <a:avLst/>
          </a:prstGeom>
          <a:solidFill>
            <a:srgbClr val="33C3F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is not the gate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2377440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9B model (ornith-9b) hits a clean 30/30. Tool-use training + a correct serving stack decide the outcome, not parameter count.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rgbClr val="3BA776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240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178040" y="200253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is a usability cliff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178040" y="2377440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18/30 lane that takes 7h is not a candidate for a live worker regardless of score. Speed is a first-class result.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3611880"/>
            <a:ext cx="502920" cy="50292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554480" y="337413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+ clocks are hard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54480" y="3749040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Token-bucket, TTL, thread-safety separate the top tier from everyone else more sharply than sorts or graphs.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63640" y="3246120"/>
            <a:ext cx="5349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3611880"/>
            <a:ext cx="502920" cy="502920"/>
          </a:xfrm>
          <a:prstGeom prst="ellipse">
            <a:avLst/>
          </a:prstGeom>
          <a:solidFill>
            <a:srgbClr val="C044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178040" y="337413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 is (almost) always the stack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178040" y="3749040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zeros this sweep were all infrastructure. The zero-score rule protected five capable models from a false verdict.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087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49834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554480" y="4745736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path is a variable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1554480" y="5120640"/>
            <a:ext cx="98115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weights, two backends, different scores. Always attribute to provider × model.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424160" y="63550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128016" cy="1554480"/>
          </a:xfrm>
          <a:prstGeom prst="roundRect">
            <a:avLst>
              <a:gd name="adj" fmla="val 35714"/>
            </a:avLst>
          </a:prstGeom>
          <a:solidFill>
            <a:srgbClr val="33C3F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33C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models can drive our agent loops cleanly — across Intel PVC, nVIDIA A100, and local DGX.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310128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60120" y="4114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30/30 lanes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66160" y="320040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3310128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9B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657600" y="4114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lane at 30/30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63640" y="320040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3310128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355080" y="4114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zeros caught &amp; fixed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320040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3310128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33C3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52%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9052560" y="4114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problem pass rate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real agentic work to the top tier. Keep the slow tail for single-shot generation. Re-run per serving-path on every stack change.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6172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~/pi-problems-30/FLEET_BENCHMARK_MASTER.md (v7) + FLEET_BENCHMARK_REPORT.pdf · harness run_model_30.sh · 2026-07-06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2026-07-07T11:43:17Z</dcterms:created>
  <dcterms:modified xsi:type="dcterms:W3CDTF">2026-07-07T11:43:17Z</dcterms:modified>
</cp:coreProperties>
</file>